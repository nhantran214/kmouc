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F7C27-C598-43CC-9556-6C6991C04B99}" v="3" dt="2026-04-23T02:57:04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 Nhan" userId="a0172cfc88336222" providerId="LiveId" clId="{576D3550-31A6-44CE-88DA-8AE6202C1CA2}"/>
    <pc:docChg chg="undo custSel modSld">
      <pc:chgData name="Tran Nhan" userId="a0172cfc88336222" providerId="LiveId" clId="{576D3550-31A6-44CE-88DA-8AE6202C1CA2}" dt="2026-04-23T02:57:28.095" v="4" actId="478"/>
      <pc:docMkLst>
        <pc:docMk/>
      </pc:docMkLst>
      <pc:sldChg chg="delSp modSp mod">
        <pc:chgData name="Tran Nhan" userId="a0172cfc88336222" providerId="LiveId" clId="{576D3550-31A6-44CE-88DA-8AE6202C1CA2}" dt="2026-04-23T02:57:28.095" v="4" actId="478"/>
        <pc:sldMkLst>
          <pc:docMk/>
          <pc:sldMk cId="0" sldId="273"/>
        </pc:sldMkLst>
        <pc:spChg chg="del mod">
          <ac:chgData name="Tran Nhan" userId="a0172cfc88336222" providerId="LiveId" clId="{576D3550-31A6-44CE-88DA-8AE6202C1CA2}" dt="2026-04-23T02:57:28.095" v="4" actId="478"/>
          <ac:spMkLst>
            <pc:docMk/>
            <pc:sldMk cId="0" sldId="27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47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2D62-DB68-017F-D1D3-22B15CF3F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FF6CE-EF5E-E177-824E-EE98AF806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844BC-672D-A5EC-82F0-E9410A84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BB840-D02E-537B-EE2B-B839ED09E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64A31-63AE-8FA6-7C5C-B8FDD6C5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6659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1C92-DC64-BF7E-A93E-679A72D8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B247E-2148-5383-115A-3B2E7511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5EF46-35BF-7518-D232-E0311B4E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40050-C678-A511-0470-F7FA0F4F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0BFE9-C51F-6F8B-3D3D-88CABF69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7873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B066-087C-BA38-D940-3BEAA3B9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E33AA-C777-7F1E-B02C-FEE31D623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B86CB-CA06-4383-8A86-17D44870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68664-2A3C-4A54-6DBA-8C34CA4EC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B8698-1862-D1F2-16C9-019167B0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788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0EA2-7C9D-6516-52CD-872C92AF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191A-0C5D-B5D8-F2DF-4288CE322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009C7-33A9-E7BB-095D-CFD954780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51C66-BEB1-CF2F-AD52-1231B23B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86EC3-D7E6-06B2-4001-D2B07B53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D22AE-3CF6-0349-47D1-84304E7B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613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C968-16A3-2099-080D-6E2AD4EA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1E6C4-23D6-3900-EFBA-14B0C0236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7C00C-539B-2748-FD58-E0B544C21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5565D-1EAB-B806-BC36-A2FCECB04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52E8F-0573-3001-3134-BF9981D03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79DC4-4BB7-3B29-A0BA-50F143F1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5805EA-9819-0498-7E92-271C1075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9F141-352C-D8FE-E382-A54807E9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5901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FC89-893E-C4A8-EECD-3C36AB9D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04E90-A234-3481-4F5D-EEB0821F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AA44D-3799-D467-3562-49CA7BD3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9C2CB-C5AA-FC22-DF6D-1D61E207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89954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0588D-2FF3-355F-B887-313B2CC7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77485-CDC9-42A2-C45C-7361E1A9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93654-D887-B0F5-D554-651B4E96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882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3684-9992-5855-7C5E-D227DCD8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45DCF-B876-F740-32B4-9CB2697C0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2A350-2447-43E3-D34C-8AC05768F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2E523-0A88-F36E-D112-B59822FE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2545E-F498-7E46-13F0-B130D198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9B606-E458-713E-2636-623B6EE4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6940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CC90-6C0C-78B3-6B61-926E84A8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B44FE-5FDC-CE8E-E561-873D17AAB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211BD-73AF-65F5-3682-AF08E9728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905B7-5027-F9F3-40E5-265BF54E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8A394-51FB-C646-1CE1-FFF0FD96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C666E-A662-3092-5716-E33F8A0A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9294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CEDC-499B-F3D4-83D2-703D81CD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3D5B2-F349-3B05-3CF7-E47B3DF05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59D3E-D242-0AD4-A8E2-BF24B600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094E6-7BE2-D65B-2168-EB4DB3A6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781B-3A4D-F953-26CE-240F59EA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9110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2596B5-72AA-5BC1-36B4-861F87DEB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2649A-F7E7-1094-60B7-98916C8EA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01615-6C2B-173D-04C2-20334578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A1E32-CD89-3687-73AC-0DD3C96F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D5842-EE6D-7858-1E2D-9598574B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364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07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EC14A-59CC-611B-EBF2-6C8D5402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DC79C-8231-1C84-F12B-79BC521F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4095F-83FD-0B36-8552-B17B91106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019FF-CD7F-1047-9313-C353B5098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2E52F-3175-3C26-F937-DA7B92727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432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498080" y="731520"/>
            <a:ext cx="1463040" cy="146304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600" b="1" kern="0" spc="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</a:t>
            </a:r>
            <a:r>
              <a:rPr lang="ko-KR" altLang="en-US" sz="3600" b="1" kern="0" spc="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을 이용한 텍스트 추출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301752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course to help you understand and practice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(Optical Character Recognition) for text extraction.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GOALS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presentation, you will be able to: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85800" y="1353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OCR is and where it is used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54864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different OCR approaches and tools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39696"/>
            <a:ext cx="54864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2121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OCR for engineering drawings (P&amp;ID, E&amp;ID)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523744"/>
            <a:ext cx="54864" cy="2560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85800" y="25054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OCR in industry: drawings, documents, more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907792"/>
            <a:ext cx="54864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85800" y="28895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problems when working with OCR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54864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85800" y="32735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Tesseract, EasyOCR, and TrOCR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675888"/>
            <a:ext cx="54864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85800" y="36576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OCR results using image preprocessing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059936"/>
            <a:ext cx="54864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85800" y="40416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reusable OCR pipeline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4443984"/>
            <a:ext cx="54864" cy="256032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85800" y="44256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OCR output with bounding boxes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OCR?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 (OCR)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that converts different types of documents — scanned papers, PDFs, images, or photos — into machine-readable, editable, and searchable text 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9900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scanned documents,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PDFs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91840" y="26974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3566160" y="2880360"/>
            <a:ext cx="502920" cy="50292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299008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0624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6616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detection, character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recognition, post-processing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26974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4"/>
          <p:cNvSpPr/>
          <p:nvPr/>
        </p:nvSpPr>
        <p:spPr>
          <a:xfrm>
            <a:off x="6400800" y="2880360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99008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0080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text,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content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OCR Works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OCR process from image to text in five stages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8952" y="1874520"/>
            <a:ext cx="27432" cy="228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280160" y="1399032"/>
            <a:ext cx="7315200" cy="493776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5087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Acquisition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1417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or scan the document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8952" y="2560320"/>
            <a:ext cx="27432" cy="228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1280160" y="2084832"/>
            <a:ext cx="7315200" cy="493776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5087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11480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deskew, binarize the image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8952" y="3246120"/>
            <a:ext cx="27432" cy="228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280160" y="2770632"/>
            <a:ext cx="7315200" cy="493776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50876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Detection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11480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text regions and lines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58952" y="3931920"/>
            <a:ext cx="27432" cy="2286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1280160" y="3456432"/>
            <a:ext cx="7315200" cy="493776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150876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 Recognition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11480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individual characters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280160" y="4142232"/>
            <a:ext cx="7315200" cy="493776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150876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Post-processing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11480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check, format output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is OCR Used?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858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Digitization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paper documents, books, and archives into searchable digital formats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64008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9834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&amp; Finance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checks, invoices, receipts, and financial statements automatically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64008" cy="1005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858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patient records, prescriptions, and medical forms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46888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754880" y="2468880"/>
            <a:ext cx="64008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9834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Plate Recognition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834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monitoring, toll collection, and parking management systems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65760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858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printed text to speech for visually impaired users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65760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754880" y="3657600"/>
            <a:ext cx="64008" cy="100584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9834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Entry Automation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8348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data entry by extracting text from forms and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Applications in Industry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7724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Drawings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14356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text, labels, and annotations from CAD drawings, blueprints, and technical schematics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772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P&amp;ID Diagrams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23957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piping and instrumentation diagrams to identify equipment tags, line numbers, and instrument labels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E&amp;ID Diagrams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33558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electrical and instrumentation diagrams for automated tag extraction and cross-referencing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7724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Documents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43159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specifications, manuals, datasheets, and compliance documents for searchable databases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Engineering Drawings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85800" y="1298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P&amp;ID Diagrams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tags and labels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identifiers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numbers and specs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and fitting annotations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 information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709160" y="1280160"/>
            <a:ext cx="397764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937760" y="1298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E&amp;ID Diagrams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and wiring labels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identifiers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designations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routing annotations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 indicators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 for OCR on Drawings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at High Resolution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280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300+ DPI to capture fine text and symbols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 the Image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noise, enhance contrast, and deskew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Regions of Interest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specific areas like title blocks or tag fields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Appropriate OCR Engine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200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tool based on drawing complexity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and Cross-Reference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" y="3840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OCR output against known tag databases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25196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572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5156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Post-Process Results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51560" y="4480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errors, format output, and store data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Problems with OCR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Image Quality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faded, or low-resolution scans lead to poor recognition accuracy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347472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Layouts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text, tables, and overlapping elements confuse OCR engines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309360" y="1463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Handwritten Text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1828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Cursive and handwritten notes are significantly harder to recognize than printed text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57200" y="31089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 and Artifacts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Stains, creases, stamps, and background patterns interfere with text detection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3291840" y="3108960"/>
            <a:ext cx="26060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347472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Characters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47472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symbols, subscripts, and non-standard fonts reduce accuracy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126480" y="31089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309360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Skewed or Rotated Text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0936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scans and angled text require deskewing before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OCR Approaches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OCR technology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32004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OCR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matching and rule-based systems. Works well with clean, structured documents and known fonts.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606040" cy="32004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474720" y="1554480"/>
            <a:ext cx="1371600" cy="27432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4747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7472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OCR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47472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models trained on character features. Handles varied fonts and some degradation. Tesseract is the classic example.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1371600"/>
            <a:ext cx="2606040" cy="32004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309360" y="1554480"/>
            <a:ext cx="1371600" cy="27432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30936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30936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OCR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30936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(CNNs, LSTMs, Transformers) that learn directly from images. Best accuracy on complex, noisy inputs.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OCR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4008" cy="3383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77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character shapes against stored templates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pixel-by-pixel matching for each character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rule-based logic for known font patterns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with clean, uniform printed text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28016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18288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processing speed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implementation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resource requirements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with noisy or degraded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varied fonts well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handwritten text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OCR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fixed templates, ML-based OCR extracts statistical features from characters (strokes, curves, intersections) and uses trained classifiers to identify them.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77240" y="2267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character shape features like stroke direction, curvature, and pixel distribution patterns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7724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474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trained models (SVMs, Random Forests) to map features to characters with confidence scores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57200" y="402336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7724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Adaptability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4389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be retrained on new fonts and document types to improve accuracy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OCR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4008" cy="9144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to recognize text directly from raw pixel data — no manual feature engineering required. This enables state-of-the-art accuracy on challenging inputs.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325880" y="2651760"/>
            <a:ext cx="868680" cy="8686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325880" y="2651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Convolutional Neural Networks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977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visual features from character images through learned filters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46888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160520" y="2651760"/>
            <a:ext cx="868680" cy="86868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160520" y="2651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LSTM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2900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Short-Term Memory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29000" y="3977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sequential dependencies between characters in text lines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46888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995160" y="2651760"/>
            <a:ext cx="868680" cy="8686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995160" y="2651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6364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Attention-Based Models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3977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entire text regions with self-attention for context-aware recognition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Tesseract OCR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open-source OCR engine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77640" cy="32918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free to use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100+ languages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LSTM-based engine (v4+)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on custom fonts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output plain text, hOCR, PDF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community and documentation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77640" cy="32918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83480" y="1965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text in standard fonts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documents and books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documents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large document sets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8348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noisy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layout analysis on complex pages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EasyOCR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77240" y="135331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OCR library powered by deep learning.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uses CRAFT for text detection and a CRNN (CNN + LSTM) model for text recognition. It supports 80+ languages and is designed for ease of use.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943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Setup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pip, use in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few lines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25603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606040" y="25603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74320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Support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CUDA for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5603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754880" y="256032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89204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9204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80+ languages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25603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903720" y="256032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0408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 Text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40880" y="3108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text in natural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and photos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8580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Tesseract: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generally outperforms Tesseract on scene text and noisy images, but Tesseract is faster on clean documents.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TrOCR: Deep Learning Example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OCR by Microsoft Research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TrOCR combines a Vision Transformer (ViT) encoder that processes image patches with a text Transformer decoder that generates the recognized text — an image-to-text model end-to-end.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2606040" cy="2011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processes the input image as patches, creating rich visual embeddings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2743200"/>
            <a:ext cx="2606040" cy="2011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291840" y="274320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52044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520440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Transformer autoregressively generates characters using cross-attention to the visual features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2743200"/>
            <a:ext cx="2606040" cy="2011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126480" y="274320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35508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55080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millions of text-image pairs, then fine-tuned on specific tasks for best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OCR Tools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5643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Tesseract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EasyOCR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TrOCR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+ Traditional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CRNN (CNN+LSTM)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(main)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(clean)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(noisy)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Handwriting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Image Preprocessing?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input quality leads to dramatically better OCR results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77640" cy="18288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3977640" cy="411480"/>
          </a:xfrm>
          <a:prstGeom prst="rect">
            <a:avLst/>
          </a:prstGeom>
          <a:solidFill>
            <a:srgbClr val="F43F5E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8580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Preprocessing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skewed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lighting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40-60% accuracy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371600"/>
            <a:ext cx="3977640" cy="182880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977640" cy="41148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93776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Preprocessing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aligned images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 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90-98% accuracy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can improve accuracy by 30-50%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OCR engines produce poor results on low-quality input. Investing time in preprocessing is often more effective than switching to a more advanced OCR engine.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Techniques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Grayscale Conversion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color images to grayscale to reduce complexity and focus on text contrast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429000" y="141732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4290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862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Binarization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290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black and white using thresholding (Otsu's method or adaptive thresholding)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2801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263640" y="14173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263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208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 Removal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median or Gaussian filters to remove specks, dots, and scanning artifacts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515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Deskewing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9436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correct tilt angle to ensure text lines are horizontal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3429000" y="32461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429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8862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Contrast Enhancement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42900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histogram equalization or CLAHE to improve text visibility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263640" y="324612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2636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7208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 Removal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26364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dark borders and scanning artifacts from document edges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Reusable OCR Pipeline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approach to text extraction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069080" cy="868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94360" y="1572768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943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Image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input image or document page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4069080" cy="868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94360" y="267004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943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binarize, denoise, deskew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4069080" cy="868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594360" y="3767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59436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Text Regions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text areas using CRAFT or contours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1371600"/>
            <a:ext cx="4069080" cy="868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4892040" y="157276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48920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8640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Recognize Text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OCR engine on detected regions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2468880"/>
            <a:ext cx="4069080" cy="868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4892040" y="26700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48920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48640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Post-Process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output, fix common errors, format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54880" y="3566160"/>
            <a:ext cx="4069080" cy="86868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4892040" y="3767328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48920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48640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Results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48640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structured data (JSON, CSV, etc.)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Visualizing OCR Output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64008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bounding boxes and labels on the original image helps verify OCR accuracy, debug errors, and understand which regions were detected. This is an essential step in any OCR workflow.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64008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Bounding Boxes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rectangles around each detected text region to show where OCR found text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56032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754880" y="2560320"/>
            <a:ext cx="64008" cy="10058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9834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Labels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recognition confidence score for each detected word or line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74904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64008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8580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Coding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green for high confidence, yellow for medium, and red for low confidence results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3749040"/>
            <a:ext cx="40690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754880" y="3749040"/>
            <a:ext cx="64008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98348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Overlay Text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recognized text next to or above each bounding box for quick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0080" y="1261872"/>
            <a:ext cx="73152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14400" y="1188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converts images and documents into searchable, editable text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1810512"/>
            <a:ext cx="73152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14400" y="17373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OCR tool based on your specific use case and requirements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59152"/>
            <a:ext cx="73152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14400" y="2286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is critical — it can improve accuracy by 30-50%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07792"/>
            <a:ext cx="73152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914400" y="28346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for clean docs, EasyOCR for noisy scenes, TrOCR for highest accuracy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456432"/>
            <a:ext cx="73152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914400" y="3383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pipeline: load → preprocess → detect → recognize → export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005072"/>
            <a:ext cx="73152" cy="2743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914400" y="3931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and visualize results with bounding boxes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sample images  •  Experiment with different engines  •  Build your own pipeline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1645</Words>
  <Application>Microsoft Office PowerPoint</Application>
  <PresentationFormat>On-screen Show (16:9)</PresentationFormat>
  <Paragraphs>328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Nhan</dc:creator>
  <cp:lastModifiedBy>Tran Nhan</cp:lastModifiedBy>
  <cp:revision>1</cp:revision>
  <dcterms:created xsi:type="dcterms:W3CDTF">2026-04-23T01:07:43Z</dcterms:created>
  <dcterms:modified xsi:type="dcterms:W3CDTF">2026-04-23T02:57:35Z</dcterms:modified>
</cp:coreProperties>
</file>